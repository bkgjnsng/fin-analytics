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fdefead62e498c" /><Relationship Type="http://schemas.openxmlformats.org/officeDocument/2006/relationships/extended-properties" Target="/docProps/app.xml" Id="Rde201d3a1ede4c35" /><Relationship Type="http://schemas.openxmlformats.org/officeDocument/2006/relationships/officeDocument" Target="/ppt/presentation.xml" Id="Rf58ca6a2eacf42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ecc61ed014fba"/>
  </p:sldMasterIdLst>
  <p:notesMasterIdLst>
    <p:notesMasterId xmlns:r="http://schemas.openxmlformats.org/officeDocument/2006/relationships" r:id="R91d430edc4034ee6"/>
  </p:notesMasterIdLst>
  <p:sldIdLst>
    <p:sldId xmlns:r="http://schemas.openxmlformats.org/officeDocument/2006/relationships" id="256" r:id="R85d1d38e4b7f4fce"/>
    <p:sldId xmlns:r="http://schemas.openxmlformats.org/officeDocument/2006/relationships" id="257" r:id="R4b04e47a1cb145e0"/>
    <p:sldId xmlns:r="http://schemas.openxmlformats.org/officeDocument/2006/relationships" id="258" r:id="R8365571b44024409"/>
    <p:sldId xmlns:r="http://schemas.openxmlformats.org/officeDocument/2006/relationships" id="259" r:id="Rad86ec1525b545bf"/>
    <p:sldId xmlns:r="http://schemas.openxmlformats.org/officeDocument/2006/relationships" id="260" r:id="R2ef686bf1d8941cf"/>
    <p:sldId xmlns:r="http://schemas.openxmlformats.org/officeDocument/2006/relationships" id="261" r:id="R18c7224925d14a13"/>
    <p:sldId xmlns:r="http://schemas.openxmlformats.org/officeDocument/2006/relationships" id="262" r:id="R994dfe9e88ab445e"/>
    <p:sldId xmlns:r="http://schemas.openxmlformats.org/officeDocument/2006/relationships" id="263" r:id="R9f47abbcc2604ef8"/>
    <p:sldId xmlns:r="http://schemas.openxmlformats.org/officeDocument/2006/relationships" id="264" r:id="Rd0c651e44af246a6"/>
    <p:sldId xmlns:r="http://schemas.openxmlformats.org/officeDocument/2006/relationships" id="265" r:id="Reb502e67350e4d56"/>
    <p:sldId xmlns:r="http://schemas.openxmlformats.org/officeDocument/2006/relationships" id="266" r:id="Racbb3ca44dcc4b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ecc61ed014fba" /><Relationship Type="http://schemas.openxmlformats.org/officeDocument/2006/relationships/theme" Target="/ppt/theme/theme1.xml" Id="Re402d16f66444571" /><Relationship Type="http://schemas.openxmlformats.org/officeDocument/2006/relationships/notesMaster" Target="/ppt/notesMasters/notesMaster1.xml" Id="R91d430edc4034ee6" /><Relationship Type="http://schemas.openxmlformats.org/officeDocument/2006/relationships/presProps" Target="/ppt/presProps.xml" Id="Rad352d98efb54b32" /><Relationship Type="http://schemas.openxmlformats.org/officeDocument/2006/relationships/viewProps" Target="/ppt/viewProps.xml" Id="R8b967624ba42406c" /><Relationship Type="http://schemas.openxmlformats.org/officeDocument/2006/relationships/tableStyles" Target="/ppt/tableStyles.xml" Id="R05dd3d14624f4991" /><Relationship Type="http://schemas.openxmlformats.org/officeDocument/2006/relationships/slide" Target="/ppt/slides/slide1.xml" Id="R85d1d38e4b7f4fce" /><Relationship Type="http://schemas.openxmlformats.org/officeDocument/2006/relationships/slide" Target="/ppt/slides/slide2.xml" Id="R4b04e47a1cb145e0" /><Relationship Type="http://schemas.openxmlformats.org/officeDocument/2006/relationships/slide" Target="/ppt/slides/slide3.xml" Id="R8365571b44024409" /><Relationship Type="http://schemas.openxmlformats.org/officeDocument/2006/relationships/slide" Target="/ppt/slides/slide4.xml" Id="Rad86ec1525b545bf" /><Relationship Type="http://schemas.openxmlformats.org/officeDocument/2006/relationships/slide" Target="/ppt/slides/slide5.xml" Id="R2ef686bf1d8941cf" /><Relationship Type="http://schemas.openxmlformats.org/officeDocument/2006/relationships/slide" Target="/ppt/slides/slide6.xml" Id="R18c7224925d14a13" /><Relationship Type="http://schemas.openxmlformats.org/officeDocument/2006/relationships/slide" Target="/ppt/slides/slide7.xml" Id="R994dfe9e88ab445e" /><Relationship Type="http://schemas.openxmlformats.org/officeDocument/2006/relationships/slide" Target="/ppt/slides/slide8.xml" Id="R9f47abbcc2604ef8" /><Relationship Type="http://schemas.openxmlformats.org/officeDocument/2006/relationships/slide" Target="/ppt/slides/slide9.xml" Id="Rd0c651e44af246a6" /><Relationship Type="http://schemas.openxmlformats.org/officeDocument/2006/relationships/slide" Target="/ppt/slides/slide10.xml" Id="Reb502e67350e4d56" /><Relationship Type="http://schemas.openxmlformats.org/officeDocument/2006/relationships/slide" Target="/ppt/slides/slide11.xml" Id="Racbb3ca44dcc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8e55d9c6f046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48c2be9c3c4ce7" /><Relationship Type="http://schemas.openxmlformats.org/officeDocument/2006/relationships/notesMaster" Target="/ppt/notesMasters/notesMaster1.xml" Id="R1386f3d354a54a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cc23f08a9647a0" /><Relationship Type="http://schemas.openxmlformats.org/officeDocument/2006/relationships/notesMaster" Target="/ppt/notesMasters/notesMaster1.xml" Id="R10582e1b059a4d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c43056ca54bbe" /><Relationship Type="http://schemas.openxmlformats.org/officeDocument/2006/relationships/notesMaster" Target="/ppt/notesMasters/notesMaster1.xml" Id="Rc7721694588e40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37d57997ec4bb6" /><Relationship Type="http://schemas.openxmlformats.org/officeDocument/2006/relationships/notesMaster" Target="/ppt/notesMasters/notesMaster1.xml" Id="Raac8fce52f6049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e5d688d014b7b" /><Relationship Type="http://schemas.openxmlformats.org/officeDocument/2006/relationships/notesMaster" Target="/ppt/notesMasters/notesMaster1.xml" Id="R6af67c5b7f51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d47f8024e4287" /><Relationship Type="http://schemas.openxmlformats.org/officeDocument/2006/relationships/notesMaster" Target="/ppt/notesMasters/notesMaster1.xml" Id="R9666ba2d8af7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83059ce2264c41" /><Relationship Type="http://schemas.openxmlformats.org/officeDocument/2006/relationships/notesMaster" Target="/ppt/notesMasters/notesMaster1.xml" Id="R5384b99b3e6e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78515f98ca404c" /><Relationship Type="http://schemas.openxmlformats.org/officeDocument/2006/relationships/notesMaster" Target="/ppt/notesMasters/notesMaster1.xml" Id="R1371b2f43e4646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11a811eef542b3" /><Relationship Type="http://schemas.openxmlformats.org/officeDocument/2006/relationships/notesMaster" Target="/ppt/notesMasters/notesMaster1.xml" Id="Rd9ce01faf34d42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9f1e51460d4c17" /><Relationship Type="http://schemas.openxmlformats.org/officeDocument/2006/relationships/notesMaster" Target="/ppt/notesMasters/notesMaster1.xml" Id="R4539ff147c2b4a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b160ba521142c6" /><Relationship Type="http://schemas.openxmlformats.org/officeDocument/2006/relationships/notesMaster" Target="/ppt/notesMasters/notesMaster1.xml" Id="R43fd2cf71895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215171d1248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77b34bd6afe4ec7" /><Relationship Type="http://schemas.openxmlformats.org/officeDocument/2006/relationships/slideLayout" Target="/ppt/slideLayouts/slideLayout2.xml" Id="R1e9a78a057c348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a78a057c348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ba15d49ba94df5" /><Relationship Type="http://schemas.openxmlformats.org/officeDocument/2006/relationships/notesSlide" Target="/ppt/notesSlides/notesSlide1.xml" Id="Rc11a01172cfa45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c943c92644da5" /><Relationship Type="http://schemas.openxmlformats.org/officeDocument/2006/relationships/notesSlide" Target="/ppt/notesSlides/notesSlide2.xml" Id="Rf32e7f2e314f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1e28fdbfb45fa" /><Relationship Type="http://schemas.openxmlformats.org/officeDocument/2006/relationships/notesSlide" Target="/ppt/notesSlides/notesSlide3.xml" Id="Rb2a3e9614030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8291c12744ea6" /><Relationship Type="http://schemas.openxmlformats.org/officeDocument/2006/relationships/notesSlide" Target="/ppt/notesSlides/notesSlide4.xml" Id="Rdde4828bc1a6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54a1a3d0d4f95" /><Relationship Type="http://schemas.openxmlformats.org/officeDocument/2006/relationships/notesSlide" Target="/ppt/notesSlides/notesSlide5.xml" Id="R27903d7a27e54e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1b969826a1482e" /><Relationship Type="http://schemas.openxmlformats.org/officeDocument/2006/relationships/notesSlide" Target="/ppt/notesSlides/notesSlide6.xml" Id="R58289374be3b4c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b9a94cd394648" /><Relationship Type="http://schemas.openxmlformats.org/officeDocument/2006/relationships/notesSlide" Target="/ppt/notesSlides/notesSlide7.xml" Id="Rcc9ef60e69974a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374438dee464e" /><Relationship Type="http://schemas.openxmlformats.org/officeDocument/2006/relationships/notesSlide" Target="/ppt/notesSlides/notesSlide8.xml" Id="Radd45ecbbf8a42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d282f1752848de" /><Relationship Type="http://schemas.openxmlformats.org/officeDocument/2006/relationships/notesSlide" Target="/ppt/notesSlides/notesSlide9.xml" Id="R182e9bf014ba44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bc20505814ee0" /><Relationship Type="http://schemas.openxmlformats.org/officeDocument/2006/relationships/notesSlide" Target="/ppt/notesSlides/notesSlide10.xml" Id="Rfcce13798ddb48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7cea4b5924878" /><Relationship Type="http://schemas.openxmlformats.org/officeDocument/2006/relationships/notesSlide" Target="/ppt/notesSlides/notesSlide11.xml" Id="R5e6a1bc327854e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5CE95B-ECEE-4099-B556-097A7FC5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C1CD-7AC3-486D-9D81-53084E6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429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대형 기업 IPO가</a:t>
            </a:r>
          </a:p>
          <a:p xmlns:a="http://schemas.openxmlformats.org/drawingml/2006/main">
            <a:pPr algn="l">
              <a:defRPr sz="292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지수와 피어그룹 주가에 미치는 영향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A70EA-5E2A-4526-9920-A2444F3C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4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9D4DC"/>
                </a:solidFill>
                <a:latin typeface="Malgun Gothic"/>
                <a:ea typeface="Malgun Gothic"/>
                <a:cs typeface="Malgun Gothic"/>
              </a:rPr>
              <a:t>수요충격 · 정보전이 · 경쟁효과를 중심으로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8CFD7-3075-46B6-9111-19690BA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62000"/>
            <a:ext cx="190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506A-ACB0-40F0-B7B2-98B3F44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0487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AFDA-DF2A-403E-BBB9-CCD9A46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477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IPO 사례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CDF9B-F065-43E2-935C-4B695388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04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3 + 3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00DE5-4AC6-42D5-B927-19CC6E7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477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국내 / 미국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6B266-7F05-4241-B71D-FBF238B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T+20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5F14E-8C7B-409F-9656-CBDB4438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02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핵심 윈도우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66E43-6146-4005-9A06-C83E7E5F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57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T+120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E2626-46B9-4171-8811-D09609B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02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장기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A9EBB-AA0D-4202-8DD1-8514E9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8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2AC27-4AC3-4E20-AA27-6F2945B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LG엔솔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41B51-190B-47A7-81E2-CD32BD1B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8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759E1-E494-4475-A42D-7CCEF85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1C280-EBE4-49D1-B78A-8F44CFD1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8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DB9ED-3AF0-46A4-8CD7-EE0F5CB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719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4D73C-E28E-475A-BF56-5492808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7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A8C5D-4F4E-4D15-B524-DCDC2A3B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A9B6B-229B-4F4E-8437-51417963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482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7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B097A-A5BC-44BC-95CE-8AF96D39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244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Snowflake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634E2-1034-4031-BA5A-039981A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7"/>
          </a:solidFill>
          <a:ln xmlns:a="http://schemas.openxmlformats.org/drawingml/2006/main" w="9525">
            <a:solidFill>
              <a:srgbClr val="5872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5E0A5-D8C9-4D97-B604-A5D3034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Rivian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30733-312B-4B9D-A0AB-F20F2E1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ACB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EACB6"/>
                </a:solidFill>
                <a:latin typeface="Malgun Gothic"/>
                <a:ea typeface="Malgun Gothic"/>
                <a:cs typeface="Malgun Gothic"/>
              </a:rPr>
              <a:t>10분 발표용 · Fin analytics</a:t>
            </a:r>
          </a:p>
        </p:txBody>
      </p:sp>
    </p:spTree>
    <p:extLst>
      <p:ext uri="{BB962C8B-B14F-4D97-AF65-F5344CB8AC3E}">
        <p14:creationId xmlns:p14="http://schemas.microsoft.com/office/powerpoint/2010/main" val="2082865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9E6CE0-90DB-4B4C-AF15-D54271CB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16D2BB-AE97-42F5-87B1-723D3922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1F205F-8AC3-49A8-9C9D-5397A2D3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B2420-3320-4D8D-8A2F-A2479BF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투자 질문은 결국 ‘언제 사고, 언제 줄일 것인가’다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530AC-3B94-4CEC-A343-3114181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790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OpenAI·SpaceX·Anthropic IPO 기대를 과거 대형 IPO 사례로 검증한다.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2CFAD-63A4-45CC-ADEE-9841F08E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FEC4C-15AD-47A4-8E41-997289D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658AE-420C-4BA6-9074-C769886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5C7AC-8BFD-4BEA-A5E1-49A6D331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초대형 IPO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433AC-1019-48C6-ABBE-C392D76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신규 자금 수요와</a:t>
            </a:r>
          </a:p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산업 valuation benchmark 발생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CF1FA-1240-4926-860A-26B78B7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FBFDA-1404-471D-A510-0EC81E3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57B5E-DA2A-4EAC-8D63-9F4DBFF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BDA4E-CE97-4C06-BDA0-D7A8E688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시장 반응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3F629-80A6-4293-896C-9208E862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지수·섹터 ETF·피어그룹이</a:t>
            </a:r>
          </a:p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단기와 중기에 다르게 반응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1227C-55D3-44C3-849A-B91CDB99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AAE50-25FA-4C0B-A39D-2403821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17C0C-4F72-40B6-9DA0-4120979B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29E2B-EFB1-4C8F-B627-8C4A5B2E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투자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D5B9F-7C42-4DE7-B449-F91F1B1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오르면 매수 시점,</a:t>
            </a:r>
          </a:p>
          <a:p xmlns:a="http://schemas.openxmlformats.org/drawingml/2006/main">
            <a:pPr algn="l">
              <a:def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내리면 리스크 축소 시점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263BE-8180-4B40-8BD0-C5AAEBC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핵심: 대형 IPO가 ‘좋은 뉴스’인지 ‘자금 흡수 이벤트’인지는 같은 산업 안에서도 기업별로 다를 수 있다.</a:t>
            </a:r>
          </a:p>
        </p:txBody>
      </p:sp>
    </p:spTree>
    <p:extLst>
      <p:ext uri="{BB962C8B-B14F-4D97-AF65-F5344CB8AC3E}">
        <p14:creationId xmlns:p14="http://schemas.microsoft.com/office/powerpoint/2010/main" val="1686477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8EF01-144A-4C89-90C9-047A51E7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76B8D9-E5E7-4906-BA62-ADFC2A2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6D9084-3165-4307-BFB8-9157C49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HYPOTHESES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E7B1F-13FB-4DFC-8EF1-68B7793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세 가지 효과가 서로 다른 가격 방향을 예측한다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94607-82DB-4073-A247-56E68AF2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8E2FF-5809-42BE-A022-2385875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FA66C-91CA-40BB-B167-E7134B77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7"/>
          </a:solidFill>
          <a:ln xmlns:a="http://schemas.openxmlformats.org/drawingml/2006/main" w="9525">
            <a:solidFill>
              <a:srgbClr val="B94B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FD58C-EC88-461C-AD8C-02754E93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0AAC7-64A0-4A01-B181-FCA2DF2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수요충격효과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19175-823D-48F4-9848-6726EF3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지수/피어 하락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2CEA5-5ACE-4A32-99C5-ABFE10E4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9A37C-7052-4679-80F9-0BD6D3F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IPO로 자금이 이동하면서 기존 상장주식에서 유동성이 빠질 수 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E4FC6-C629-49D1-A71B-C89932C3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BC69E-8B91-4A6E-AC5C-E094F9B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F2424-BF82-4524-88C0-913F1C5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정보전이효과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42931-BADA-4DA1-8894-13F6DAD5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피어 상승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2A208-C752-4798-A22E-794BA50C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B65F3-EACD-4711-88C3-17DC9A5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IPO 흥행이 산업 성장성과 valuation benchmark를 확인시켜 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0A14A-9EFA-4FA3-AF83-2A633A4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C8"/>
          </a:solidFill>
          <a:ln xmlns:a="http://schemas.openxmlformats.org/drawingml/2006/main" w="9525">
            <a:solidFill>
              <a:srgbClr val="C47A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C023F-0A98-4B39-BF3D-31F69527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H3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E0335-2AF6-40AF-9A7A-CCE39A3A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경쟁효과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6AF5C-7079-4EC1-A48A-A5066FDD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라이벌 하락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84192-4A72-4122-B9E1-D0C7895F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AC533-DA64-4324-810A-5A623763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신규 상장사가 자본조달과 주목도를 확보하며 기존 경쟁사의 상대 매력 하락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CDDE7-C01A-4CC1-8027-09FBB47D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따라서 결론은 단순 상승/하락이 아니라 ‘어떤 효과가 우세했는가’로 읽어야 한다.</a:t>
            </a:r>
          </a:p>
        </p:txBody>
      </p:sp>
    </p:spTree>
    <p:extLst>
      <p:ext uri="{BB962C8B-B14F-4D97-AF65-F5344CB8AC3E}">
        <p14:creationId xmlns:p14="http://schemas.microsoft.com/office/powerpoint/2010/main" val="20830919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04D342-334C-4DDD-B88E-28764D7D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4B2FBC-FE8D-43BD-ACA2-26E27C7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A0E3A2-9B72-45F2-8209-637E32C4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B2C7E-5BB0-41E4-9F2D-A7CD87E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정상수익률을 먼저 추정한 뒤, 이벤트 기간의 초과수익률을 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5FD6-D5E7-4883-9BAD-DB148CDC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E24E5-77A6-4229-9861-961483E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6F639-F5B0-4E64-B691-9C483141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52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EC858-09BC-43DE-B6D5-6F36156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rᵢ,t = αᵢ + β₁rₘ,t + β₂rᵢₙd,t + β₃SMBₜ + β₄HMLₜ + εᵢ,t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976D3-4097-4DC0-B0A5-65362AC3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ARᵢ,t = rᵢ,t - E(rᵢ,t)</a:t>
            </a:r>
          </a:p>
          <a:p xmlns:a="http://schemas.openxmlformats.org/drawingml/2006/main">
            <a:pPr algn="ctr">
              <a:defRPr sz="1650" b="0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CARᵢ(τ₁,τ₂) = Σ ARᵢ,t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61AC7-D4EF-4F69-80AC-BCBB1708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4476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3D765-59D1-48E7-B73E-51479EC0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D4D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D4DC"/>
                </a:solidFill>
                <a:latin typeface="Malgun Gothic"/>
                <a:ea typeface="Malgun Gothic"/>
                <a:cs typeface="Malgun Gothic"/>
              </a:rPr>
              <a:t>추정기간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FD86A-5A51-412C-8268-0C3A6ED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[-250, -20]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642B3-B9A5-41F3-81ED-A3FDE01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4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9D4DC"/>
                </a:solidFill>
                <a:latin typeface="Malgun Gothic"/>
                <a:ea typeface="Malgun Gothic"/>
                <a:cs typeface="Malgun Gothic"/>
              </a:rPr>
              <a:t>상장일 t=0 이전 데이터로 정상수익률 모형 추정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91214-49F1-4C8C-9150-02AC676E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828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B3308-2882-465B-B5D5-923B4F5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27A57-1C36-4C2E-8A9B-382F087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-250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4E029-0753-4410-9AFC-E37C892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F9B33-EF28-4C75-BA45-5E01AE0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-20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B5393-1196-4D4A-94B2-AD08AA4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08655-3842-439A-A088-3BE9E139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35E17-F79A-48D7-861D-EB3FD20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C2C03-4ED8-4CA1-9FA3-6CC38D6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D0CCE-F49B-4409-B676-867B88C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6C1CE-4E25-495E-A7D9-80D4D9DC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21CC0-BFBF-4B95-94A9-1FDAD81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CC574-DFBD-41BD-851F-9A727F3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7AD34-C185-4727-996C-F92C1B2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548E2-DC67-4B1D-BD1D-DC10CFBB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67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+60/+120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00D4D-459F-4928-BAF1-9ED0FD1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1D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1767C-AEF3-496F-971A-6A59A35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24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단기 [-1,+1] / [0,+5]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11006-48BD-49FA-845B-CBE7910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C8"/>
          </a:solidFill>
          <a:ln xmlns:a="http://schemas.openxmlformats.org/drawingml/2006/main" w="9525">
            <a:solidFill>
              <a:srgbClr val="C47A2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40853-08FB-47B2-B068-373A0F47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2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중기 [0,+20]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1FAA58-BCD0-471D-B79C-3C0BE147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67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D10F64-5FF2-41BB-B0D1-0FEC4FA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24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장기 [0,+60] / [0,+120]</a:t>
            </a:r>
          </a:p>
        </p:txBody>
      </p:sp>
    </p:spTree>
    <p:extLst>
      <p:ext uri="{BB962C8B-B14F-4D97-AF65-F5344CB8AC3E}">
        <p14:creationId xmlns:p14="http://schemas.microsoft.com/office/powerpoint/2010/main" val="6951279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69D4E-AC21-441F-AB61-3E6B03E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2C09C1-F5F5-435B-8B26-73651CF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A23EB3-0A99-4A5B-A392-683378B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AEDEB-6951-475E-BC20-804EF9F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국내 3개는 접근 가능한 증거, 미국 3개는 OpenAI·SpaceX의 유사사례다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6547-F8E9-47EB-8EC3-947EB615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BD284-FE76-44D0-A802-3596E98D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A16D1-6857-459B-9ACD-C6C6E65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국내 사례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783EE-6836-43E5-8B14-E2F846BB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미국 유사사례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6F67D-1193-4AF5-B887-6ED5F633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70244-2007-4127-AB52-617360E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LG엔솔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41C6B-37C5-415F-BACA-97A9EAD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71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2022.01.27 · 2차전지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02930-DC5B-49A4-84EE-FCDF199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7"/>
          </a:solidFill>
          <a:ln xmlns:a="http://schemas.openxmlformats.org/drawingml/2006/main" w="9525">
            <a:solidFill>
              <a:srgbClr val="B94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0167D-D49A-4922-8D52-72F59D2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E1CF1-C6D0-47F1-84F7-3C5F725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7A1AB-B876-465B-85E1-03C7AA5A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E59A-24E7-4E46-9F0A-09B5332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05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2023.10.05 · 로봇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CC155-C22E-45AF-AF29-58EC652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7"/>
          </a:solidFill>
          <a:ln xmlns:a="http://schemas.openxmlformats.org/drawingml/2006/main" w="9525">
            <a:solidFill>
              <a:srgbClr val="B94B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83FDD-BAD6-44B6-B284-982D882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814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0DB8C-36BF-4E08-A129-B743AC82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3C395-2470-4500-A222-E006324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58CCA-A844-46C6-89C4-B7AE909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38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2025.02.05 · AI·클라우드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28D5C-E9CE-46A8-AE7B-65F437D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C8"/>
          </a:solidFill>
          <a:ln xmlns:a="http://schemas.openxmlformats.org/drawingml/2006/main" w="9525">
            <a:solidFill>
              <a:srgbClr val="C47A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842DA-A609-466C-BB2B-866274B0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148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혼재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10CDD-4C04-474D-AE46-043D21DA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A6C1C-37CF-46FE-8EF0-F28976E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B0E7E-1E25-4351-85C2-74549456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2023.09.14 · AI 반도체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8BA4C-8EA2-4E33-9230-A931AD83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908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4D9FA-CC8F-4EA1-9651-1963BFEC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4F58D-B266-4E99-9C12-C7F560A7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88DC2-486F-4D5D-AB4D-109A9C9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86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Snowflake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DC56A-3362-4E2C-9C7B-D8A12B7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2020.09.16 · 클라우드 데이터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C244C-12EC-40BF-A918-89548358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242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5B2C1-5B5B-4D5E-8712-90768EC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814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D6269F-F374-4CCE-9763-22749788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7D5288-3622-4C01-9B5D-AF6BB641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Rivian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E2559E-042E-43DB-A70E-1FD24DBA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2021.11.10 · 전기차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79211D-0DD8-4BCD-9D00-42ABE03F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577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A578CC-B315-4317-8B96-52F9DF3C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CC9C4-639F-46C5-B3AC-085F955F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표본 설계 원칙: 국내와 미국을 무리하게 하나로 합치지 않고, 패널별 패턴을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981691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193D0-9D46-4218-BD40-554CAA7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3FF5BF-FCC9-40ED-BCAF-51A14A1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CBB672-FDF6-434B-A287-D3CF7FFF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DATA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2D174-AF05-4063-A030-39394936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가격 데이터와 팩터 데이터를 결합해 AR/CAR 산출물을 자동 생성했다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B604A-6B3D-40E6-85F5-CCB38F7E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408F7-5852-4F21-96CD-156556BF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DB7BE-CAAB-4F81-8349-8A6C8FEC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1590C-1418-4921-8809-6CC0B7FB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가격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ED58-72F6-4E5F-9D2B-AA9871A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국내: 네이버 금융</a:t>
            </a:r>
          </a:p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미국: Yahoo Finance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96DA1-C14B-41DA-B336-9861AA22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B0611-1CE2-40EE-8793-2E0C67C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FF9A3-28FE-48E0-B9A5-5AAD256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D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F56BC-AE7B-4109-85EE-5A866D11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팩터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AC43E-E229-4625-93A4-5FBFCC33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미국: Fama-French SMB/HML</a:t>
            </a:r>
          </a:p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국내: 시장·산업 모형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0FD2A-C5E9-4C94-AFD4-31017D4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24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62C28-5B41-4917-BE41-BE58FF1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3BCCF-FF37-4679-B82B-DCAFED1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16862-C934-4341-8EF6-3C721D0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회귀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D3A92-2A65-4DC8-B50D-03675E0B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[-250,-20] 정상수익률</a:t>
            </a:r>
          </a:p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개별 피어별 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B9A37-B80A-4BD7-BB9D-A01DA91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94C6D-B846-4374-8D3F-EB21498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0771C-2033-4E55-A542-C75AA7B0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D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A2A62-3CB3-46E2-9A5D-0280613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6A8EA-D713-400B-B97E-ED7011E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AR/CAR, 가설검정</a:t>
            </a:r>
          </a:p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HTML/PDF/PPT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01BBD-4CD6-4EBE-BDF0-FA0EFFD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38864-A631-4600-BC08-031E62A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주의: 국내 일별 SMB/HML은 현재 공개 무료 자료 제약으로 미적용. 발표에서는 이 부분을 한계와 보완 과제로 명시한다.</a:t>
            </a:r>
          </a:p>
        </p:txBody>
      </p:sp>
    </p:spTree>
    <p:extLst>
      <p:ext uri="{BB962C8B-B14F-4D97-AF65-F5344CB8AC3E}">
        <p14:creationId xmlns:p14="http://schemas.microsoft.com/office/powerpoint/2010/main" val="460410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1DB81-713F-4DF0-9D10-3470B6F8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D78F02-D69F-48FE-814F-CABA8D3E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E60AB1-B1D1-4E66-BD00-AF3092E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F8124-657A-4B4F-A242-96718E19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단기 CAR은 국내 일부 하락, 미국 유사사례 상승으로 갈렸다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6464C-4E06-420B-A198-74EA7417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790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피어그룹 평균 CAR [0,+20] 기준.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3C663-4CA3-4660-AA9A-5039C07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58DF5-E3C8-462C-95F7-54705466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B4E52-75C6-4F4A-A732-DAE5F39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768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8E673-605D-4459-B110-F0985788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91" y="2438400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C9B1D-7789-454F-82EE-1F631C1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Peer avg CAR [0,+20]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D24C8-ABA3-4CC6-9293-BA22A817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음(-)은 수요충격/경쟁효과, 양(+)은 정보전이효과 쪽 해석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613D-CC27-43C6-85FD-135757B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LG엔솔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FA354-764C-4182-879E-04638093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909" y="2609850"/>
            <a:ext cx="131618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C5020-A489-4E58-9B0B-93E3A68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359" y="26003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-8.0%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7D20E-6EB7-4140-9168-63AEB24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4202D-86BB-4D8F-A9B1-92DC4D35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353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72B07-EB36-42F5-AA13-C051F263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407" y="3073400"/>
            <a:ext cx="97068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9D1A1-8D80-45A2-BFED-C2670DF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857" y="30638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-5.9%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E1102-9D32-4DFA-A38E-F3639DE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4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0C32A-184B-490F-AAFF-89C206B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988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96DB9-5149-457E-B3E4-9AE88E09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91" y="35369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EFF2E-0D5B-4CA7-9498-A6C7A956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091" y="35274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+8.8%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DE6FF-B6BE-42C6-AC3C-279AE540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179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혼재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7B8AE-37FD-4340-A697-78645771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5A623-87B7-4B10-BF13-5EBF6329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91" y="4000500"/>
            <a:ext cx="3290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47E91-1B3A-4145-8D34-8D9A49F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336" y="39909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4B5CE-CB25-4C79-AAE0-220FEC6D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7289B-0DA9-4959-AA4F-95E71879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59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Snowflake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1700B-2B36-43FF-93F2-59EC287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91" y="4464050"/>
            <a:ext cx="46066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ECDA0-19CB-4DDD-8A19-D5E6FE4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955" y="44545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7A3F8-2E58-4D4C-BDFA-8DEC85C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5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5301F-101C-4538-8A3C-FE9A220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895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Rivian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C6D34-DE70-4025-908A-3EA27A7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091" y="4927600"/>
            <a:ext cx="42775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8339C-1484-467A-9763-7B0AD2A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180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81C93-DF18-4759-A94D-9A39322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85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CD9AE2-7D29-4942-B7C1-AEFE0928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7"/>
          </a:solidFill>
          <a:ln xmlns:a="http://schemas.openxmlformats.org/drawingml/2006/main" w="9525">
            <a:solidFill>
              <a:srgbClr val="B94B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4C3232-6874-47EA-9543-A9E82449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국내 2개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3139B2-27E8-48F8-BE06-EA565322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LG엔솔·두산로보틱스는 수요충격/경쟁효과 방향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A86672-4F57-44D7-851B-6DDA437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138A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C98386-8770-4FE8-B90E-4397B3D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미국 3개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AFF7EA-6CA6-490C-9E7B-7690185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243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Arm·Snowflake·Rivian은 정보전이효과가 우세</a:t>
            </a:r>
          </a:p>
        </p:txBody>
      </p:sp>
    </p:spTree>
    <p:extLst>
      <p:ext uri="{BB962C8B-B14F-4D97-AF65-F5344CB8AC3E}">
        <p14:creationId xmlns:p14="http://schemas.microsoft.com/office/powerpoint/2010/main" val="1317394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544B2-D776-4413-B846-90C634A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792924-9792-444B-908F-0F63AA8E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66145A-26D9-42A7-9194-E2A8E7D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5D5CA-BAA3-4AB4-8407-2B3E7CA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IPO 효과는 상장 직후와 3개월 후가 다르게 보일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C28B2-9CA8-4DCF-AD69-7C7D717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790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피어그룹 평균 CAR [0,+20]에서 [0,+60]으로의 변화.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18FE5-9DAE-4BC1-A7DB-BEE55EA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3D999-A8F5-48C2-A53F-FA8752C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78B8B-D2E3-43A5-AC92-500CB6E0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176" y="2419350"/>
            <a:ext cx="1333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175FE-2314-4B69-B6AF-EB64FD3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[0,+20]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DBE83-75EA-4CE1-A411-EB42F4D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47A24"/>
                </a:solidFill>
                <a:latin typeface="Malgun Gothic"/>
                <a:ea typeface="Malgun Gothic"/>
                <a:cs typeface="Malgun Gothic"/>
              </a:rPr>
              <a:t>[0,+60]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3818D-DF83-4B56-B615-18851F5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LG엔솔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23427-7A43-4D22-8D27-47EC47F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588" y="2724150"/>
            <a:ext cx="5042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CBAE7-907D-4597-ACCD-930DB23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963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9D1D4-982B-409C-8897-1565AF1B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228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A041D-4845-4E0E-8BC6-CE9AE7C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-8.0% → -4.4%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03D39-C3B0-4E5B-9D46-A5D54D2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53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CE1DF-A409-4EF1-A8CE-9C2118A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743" y="3187700"/>
            <a:ext cx="-10365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85B97-0A73-40CD-8CD8-3DBDE22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18" y="314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31F30-F899-44CD-A6BA-D514AB7D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574" y="314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C30B6-5BDB-4807-82BE-6948F4B9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4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-5.9% → -13.3%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A0998-56D1-4198-BC55-957E44F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88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F94FA-7C29-4F09-A3A1-D5DD3391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824" y="3651250"/>
            <a:ext cx="10925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DDA51-FEE0-410B-AD38-38FE0A1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99" y="360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B92BA-F558-4737-985C-30EF9503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772" y="360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EFD16-3677-4038-A255-9194924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179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+8.8% → +16.6%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7F4D99-48E6-4AA2-A299-C3C199F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38629-EEBC-4EEE-83B2-57434CB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324" y="4114800"/>
            <a:ext cx="1820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B9D06-E2B6-474F-B04E-070A2160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699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21076-5978-4963-9710-EC524DD3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94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C3C931-62FC-4B96-92BA-3EC9327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81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+2.0% → +3.3%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B13A4-346E-4ADD-B004-B53018A3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59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Snowflake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C06EE-C754-49FE-AF76-2F0B6D7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382" y="4578350"/>
            <a:ext cx="-33617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DDF26-9300-4D3B-B4CF-114283F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757" y="4530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3DE44-B55B-4F74-9442-FA80D26E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581" y="4530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F15062-4B1D-469C-8C3B-86BFD31D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45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+2.8% → +0.4%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E59BA7-6955-40EE-9578-5B3265A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95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Rivian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22EDA-2531-4347-BADF-B8DEE60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368" y="5041900"/>
            <a:ext cx="33617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374859-6E5F-419D-9E4A-C7A9294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743" y="499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B27D0B-710D-4126-80A0-C7651C7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919" y="499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472983-5170-4AA2-BF4F-C64ED19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08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+2.6% → +5.0%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7FE679-2326-406E-943F-1512ACE2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1B04A7-6CCE-4871-9410-148445D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F8A6B9-DBA7-47E5-8F6E-E1EE81A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· LG CNS는 T+60에서 더 강해짐</a:t>
            </a:r>
          </a:p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· Doosan은 중기 하락이 확대</a:t>
            </a:r>
          </a:p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· Snowflake는 단기 정보전이가 약해짐</a:t>
            </a:r>
          </a:p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· Rivian은 중기까지 양(+) 유지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9B2537-EDDD-4791-9D05-F0B8C159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72125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결론: ‘상장일 당일 반응’만 보면 투자 타이밍을 잘못 읽을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16777713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EA7E8-4373-4B4A-9C57-610C24D9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C9749A-F195-457C-A561-F6DF3131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26B392-9AB5-4455-AAB4-177096C5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KOREA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C024A-32FA-4079-865C-3296043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국내 사례는 수요충격과 경쟁효과가 더 잘 보인다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F1EBE-9154-4694-B573-8D2B0F74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962D-FFB6-4D15-933D-42A6719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AE179-BD0A-46B9-93ED-8A52136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8251-4518-4796-BB76-F80B2B0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F6428-AA58-4E95-971C-230CCC6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5A5A2-FBA4-49A2-9D86-2B6F6DE4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CAR T+20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B68AC-7288-4034-A163-075BE9EC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86E0-4AE4-495B-801C-FADBA7A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CAR T+60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4A63B-D7C3-44E2-A1B9-233A0B9F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B84AC-0AFC-473A-96D1-102942C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EBC6B-A090-43BB-BBAA-84B7A90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E1BCA-3D80-46D0-AE43-3381C3C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6D4D2-B646-4B6F-8B0E-E8E82DE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1757E-4694-41EE-9FCC-DAD1D62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LG엔솔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D9DB1-3BC1-4905-B7F9-A15B9E5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A8BA0-8D25-488A-B31C-E5AFA24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-8.0%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E4248-44E8-4C91-BAE2-A9AC17E3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2099A-230E-40D7-8617-AA44BC6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-4.4%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4BE2E-7729-4DD6-9888-F694834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C84F1-F0EF-4059-8A9B-F6CE307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CE301-C0A5-48BA-830C-66D90C3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B2267-2E22-4A06-B4EC-6BCF48B7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시장과 피어가 함께 약세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5C224-EE79-4C64-BC05-AD9300E3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C0486-3578-4953-866C-26421B9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두산로보틱스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8D628-0D07-4FF9-B073-A105B15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4CB2B-58B0-404B-BCCC-FC3550C4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-5.9%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BE5DF-AD6A-4EF0-9BC8-020FB597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37F34-5410-4381-BD7C-10C8C65C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86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94B3D"/>
                </a:solidFill>
                <a:latin typeface="Malgun Gothic"/>
                <a:ea typeface="Malgun Gothic"/>
                <a:cs typeface="Malgun Gothic"/>
              </a:rPr>
              <a:t>-13.3%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444D14-38E2-4043-9C16-FF4B258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6DCE17-ACAB-471E-B02E-6DD5A2D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H1/H3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E9E811-6102-4557-BF10-1FAAB15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94F63-6A95-4304-B096-873C08BA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피어별 혼재이나 평균은 약세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07EE7-04D2-450A-9385-1CB650D7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C7EF4D-F3AE-4C4F-88EA-B9BFA5F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FBBC9-6E6D-4013-87AD-A5B9D583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1CEC8C-05D8-4ACF-A6A7-5F4375AF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+8.8%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4EFBF-AD57-4052-9073-29BE9A5B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624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94EBCD-A5B8-46F0-AF11-A14B888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+16.6%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4B68AC-8348-4656-8DF8-E898094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877CCC-7A07-4E59-8F85-49D7B81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혼재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A0EF7A-B92F-42F9-B931-A68C45F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4E37F-9418-4521-A7DA-3BE368A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POSCO DX 급등, 나머지는 약세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AA7B2A-E60B-4583-9AF8-A9C22E6C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국내 결과는 ‘대형 IPO가 기존 피어의 투자 매력을 일시적으로 낮출 수 있다’는 논리를 뒷받침한다.</a:t>
            </a:r>
          </a:p>
        </p:txBody>
      </p:sp>
    </p:spTree>
    <p:extLst>
      <p:ext uri="{BB962C8B-B14F-4D97-AF65-F5344CB8AC3E}">
        <p14:creationId xmlns:p14="http://schemas.microsoft.com/office/powerpoint/2010/main" val="20502273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D84DB-9F1A-4D67-BF74-EA578F9A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3F5A25-57FC-43BA-B49D-37A59732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A04D8F-23AB-4DCA-AF9A-59B0C26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US ANALOGUES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25421-C4B4-48E6-8687-8395BDE4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미국 유사사례는 정보전이효과가 더 뚜렷했다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4FCE-BB91-4768-8C7D-BD8C924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96F31-A556-45FA-8020-DF2C33C2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1CDE5-1571-4667-ADB3-61D7F8D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D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4FCAC-D8F3-48F5-85BD-1432E8C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781A6-D6D1-4E97-AA76-978808C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AI 반도체 인프라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FF154-B005-4D0B-8F51-59A0513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91D5-2F53-4F86-AA7E-5842535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Peer avg CAR [0,+20]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86882-781C-4FFA-9FA2-53F60EA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78BA5-BE13-4026-BCEB-39CAFC7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5/5 피어 상승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DD427-9EB8-4C9D-BED5-8E4F7219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OpenAI의 컴퓨팅 생태계 재평가와 유사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9C63B-8A18-4636-9CFB-68DAB4C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38A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9C469-2512-4841-AE58-D680E4C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Snowflake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46723-86B0-475B-AD8D-BF27AAD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클라우드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F9A9B-7138-46D7-816D-01495716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97116-2BD0-448A-9C8A-E7F7F4A4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Peer avg CAR [0,+20]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A7049-5CC6-4918-A46A-CF793DB8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90803-A195-416A-B61F-8CE1F11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3/5 피어 상승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565B4-056C-4371-967C-5011707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AI 소프트웨어 valuation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17410-3A62-47AD-8909-133CF04D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47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19AD6-ABE9-4DD4-856B-0A644DBB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Rivian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3B934-E668-4F49-AD64-FC653E2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전기차 성장주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EDAF5-726C-4F1A-8D6F-D595A03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+2.6%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C10C5-CACD-4D37-B3F9-EC6FCA5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Peer avg CAR [0,+20]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23D5C-5D88-4EEE-B43E-186325AC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BC80B-8035-4CC8-A199-2F25452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38A67"/>
                </a:solidFill>
                <a:latin typeface="Malgun Gothic"/>
                <a:ea typeface="Malgun Gothic"/>
                <a:cs typeface="Malgun Gothic"/>
              </a:rPr>
              <a:t>3/5 피어 상승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5C76D-4AF7-4448-A823-E03F88B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SpaceX 같은 산업 대표 IPO의 비교사례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856D4-6345-43CD-AC8E-8A1D51F2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시사점: OpenAI/Anthropic IPO는 PLTR 같은 기존 AI 피어에 단기 하락만이 아니라 섹터 재평가 상승도 만들 수 있다.</a:t>
            </a:r>
          </a:p>
        </p:txBody>
      </p:sp>
    </p:spTree>
    <p:extLst>
      <p:ext uri="{BB962C8B-B14F-4D97-AF65-F5344CB8AC3E}">
        <p14:creationId xmlns:p14="http://schemas.microsoft.com/office/powerpoint/2010/main" val="11130024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A7B09-CFEE-4F77-9E94-B59B6979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BB0A72-F3F4-4CEB-AEAB-676734E4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9FE5A1-961D-41FA-B9CE-3B1E8C1D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6FA5"/>
                </a:solidFill>
                <a:latin typeface="Malgun Gothic"/>
                <a:ea typeface="Malgun Gothic"/>
                <a:cs typeface="Malgun Gothic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81FA9-5105-4E19-BA20-867C3BE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대형 IPO를 투자 이벤트로 볼 때는 ‘효과’와 ‘시간’을 분리해야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C905E-1F40-4BAE-B539-A6A6790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50B1-10C3-46E6-A54D-280DD296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Fin analytics · IPO event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A8DB-97D8-4636-A5D6-3E0B42C7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F9AE5-EF40-49AC-9FFC-88C81C64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690DE-4156-4C27-8946-F26E8A8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050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상장 직후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2F95C-DECA-4962-B4EF-0C5D1EA0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90775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수요충격과 차익실현 압력부터 확인한다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A7C41-DAB5-43E5-A8E5-A1903B17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75F1D-88E3-401E-BD47-E252B839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0E6A-2D1B-49D9-8701-E70E757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432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1개월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6BAF0-562F-4D88-9B48-94C28739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28975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피어 평균 CAR이 양수인지 음수인지로 정보전이/경쟁효과를 구분한다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817F2-5629-4B17-B09D-38D50524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40E30-509B-4210-846D-E5A37067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E73F7-4B40-46C9-BA93-7374F29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814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3개월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008F5-21D0-40E4-A686-0A452B8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67175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단기 반응이 유지되는지, 산업 재평가로 바뀌는지 본다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DCA30-E08B-40A9-849E-5C842E2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7268E-F3F2-40D2-BC61-289AB890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2BCC7-0208-4302-91A0-BF5DA2E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923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31915-ABFA-4427-B925-59659C9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OpenAI는 PLTR/SNOW, SpaceX는 RKLB/ASTS/IRDM 같은 피어 바스켓으로 봐야 한다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38125-8C7B-4D00-8555-19696E1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E6997-A8F3-419F-895E-A16E3FA7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D4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9D4DC"/>
                </a:solidFill>
                <a:latin typeface="Malgun Gothic"/>
                <a:ea typeface="Malgun Gothic"/>
                <a:cs typeface="Malgun Gothic"/>
              </a:rPr>
              <a:t>최종 결론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46479-6A87-4130-81AC-B7BE6056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대형 IPO는</a:t>
            </a:r>
          </a:p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한 방향의 신호가 아니라</a:t>
            </a:r>
          </a:p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자금 이동과</a:t>
            </a:r>
          </a:p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산업 재평가가 겹치는</a:t>
            </a:r>
          </a:p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DF8"/>
                </a:solidFill>
                <a:latin typeface="Malgun Gothic"/>
                <a:ea typeface="Malgun Gothic"/>
                <a:cs typeface="Malgun Gothic"/>
              </a:rPr>
              <a:t>복합 이벤트다.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61015-6CF0-41C7-B52E-8D42E67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7D"/>
                </a:solidFill>
                <a:latin typeface="Malgun Gothic"/>
                <a:ea typeface="Malgun Gothic"/>
                <a:cs typeface="Malgun Gothic"/>
              </a:rPr>
              <a:t>다음 보완: 발표일 기준 이벤트윈도우, 거래량/변동성, 국내 SMB/HML 구축</a:t>
            </a:r>
          </a:p>
        </p:txBody>
      </p:sp>
    </p:spTree>
    <p:extLst>
      <p:ext uri="{BB962C8B-B14F-4D97-AF65-F5344CB8AC3E}">
        <p14:creationId xmlns:p14="http://schemas.microsoft.com/office/powerpoint/2010/main" val="226820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2026-05-24T07:08:50.7180000Z</dcterms:created>
  <dcterms:modified xsi:type="dcterms:W3CDTF">2026-05-24T07:08:50.7180000Z</dcterms:modified>
</coreProperties>
</file>